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7A3A"/>
          </a:solidFill>
          <a:ln w="12700">
            <a:solidFill>
              <a:srgbClr val="C5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9F0"/>
                </a:solidFill>
              </a:rPr>
              <a:t>Grão e Origem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961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Frete e logística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8321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E5D5"/>
                </a:solidFill>
              </a:rPr>
              <a:t>Modelo visual para explicar a operação com Melhor Envio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4297680" cy="548640"/>
          </a:xfrm>
          <a:prstGeom prst="roundRect">
            <a:avLst>
              <a:gd name="adj" fmla="val 16667"/>
            </a:avLst>
          </a:prstGeom>
          <a:solidFill>
            <a:srgbClr val="FFF9F0">
              <a:alpha val="92000"/>
            </a:srgbClr>
          </a:solidFill>
          <a:ln w="12700">
            <a:solidFill>
              <a:srgbClr val="FFF9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41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E1D"/>
                </a:solidFill>
              </a:rPr>
              <a:t>MVP • postagem pelo produtor • conta central da plataforma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0" y="822960"/>
            <a:ext cx="1463040" cy="2194560"/>
          </a:xfrm>
          <a:prstGeom prst="arc">
            <a:avLst/>
          </a:prstGeom>
          <a:noFill/>
          <a:ln w="38100">
            <a:solidFill>
              <a:srgbClr val="F0E5D5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108960"/>
            <a:ext cx="1097280" cy="1920240"/>
          </a:xfrm>
          <a:prstGeom prst="arc">
            <a:avLst/>
          </a:prstGeom>
          <a:noFill/>
          <a:ln w="38100">
            <a:solidFill>
              <a:srgbClr val="F0E5D5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RESUMO EXECUTIVO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Decisão de frete para o MVP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AF3EA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Escolha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Usar Melhor Envio como camada de frete, com a conta central da Grão e Origem.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1E6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91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Modelo operacional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2011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A plataforma cota, compra e gera a etiqueta. O produtor embala e posta.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10149840" cy="1051560"/>
          </a:xfrm>
          <a:prstGeom prst="roundRect">
            <a:avLst>
              <a:gd name="adj" fmla="val 5217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114800"/>
            <a:ext cx="98206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Não estamos criando transportadora, coleta própria ou centro de distribuição no MVP. A operação precisa nascer simples para validar venda real.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DIAGRAMA PRINCIPAL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Fluxo logístico em ordem cronológica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63140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96512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29884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63256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96628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1. Pedido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Cliente escolhe o café e informa o CEP.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82012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6604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2. Cotação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6604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Sistema calcula frete com origem no produtor.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15384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3. Pagamento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9976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Pedido é confirmado e fica apto para preparo.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48756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3348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4. Etiqueta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3348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Grão e Origem gera etiqueta pré-paga.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82128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5. Postagem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Produtor leva a caixa ao ponto combinado.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15500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0092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6. Rastreio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80092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Webhook confirma postagem e acompanha entrega.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0120" y="443484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EAF3EA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572000"/>
            <a:ext cx="98206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Regra-chave: etiqueta gerada não é envio. O envio só é reconhecido quando a transportadora registra a postagem.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RESPONSABILIDADES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Quem faz o quê?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817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Comprador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Escolhe o café, paga o pedido e acompanha a entrega pela plataforma.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EAF3EA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9709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Produtor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Mantém o café disponível, embala no padrão combinado e realiza a postagem.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FF1E6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☕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8601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Grão e Origem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Vende, calcula frete, compra etiqueta, orienta o produtor e controla rastreio.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7F1E8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7493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Melhor Envio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9944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Intermedia transportadoras, gera etiqueta, registra status e envia webhooks.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SEM COMPLICAR A COMPRA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Como o frete deve aparecer para o cliente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424160" cy="594360"/>
          </a:xfrm>
          <a:prstGeom prst="roundRect">
            <a:avLst>
              <a:gd name="adj" fmla="val 9231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54480"/>
            <a:ext cx="10094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A API pode retornar várias opções. A loja deve traduzir isso em escolhas simples.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251460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EAF3EA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697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Opção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Econômico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menor preço viável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17720" y="251460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1E6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697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Opção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017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Mais rápido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menor prazo viável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92440" y="251460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7F1E8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697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Opcional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Recomendado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equilíbrio preço/prazo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43000" y="4800600"/>
            <a:ext cx="9875520" cy="640080"/>
          </a:xfrm>
          <a:prstGeom prst="roundRect">
            <a:avLst>
              <a:gd name="adj" fmla="val 8571"/>
            </a:avLst>
          </a:prstGeom>
          <a:solidFill>
            <a:srgbClr val="EAF3EA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4937760"/>
            <a:ext cx="95463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O cliente não precisa entender PAC, Sedex, transportadora X ou ponto Y. O sistema filtra e mostra o que faz sentido.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PREPARAÇÃO DO PRODUTOR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Caixas e embalagens: padrão sem engessar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94710" y="2080260"/>
            <a:ext cx="274320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195060" y="2080260"/>
            <a:ext cx="274320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995410" y="2080260"/>
            <a:ext cx="274320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1508760"/>
            <a:ext cx="243459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655064"/>
            <a:ext cx="2105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Produto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947672"/>
            <a:ext cx="2105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250 g, 500 g, 1 kg ou kit.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14750" y="1508760"/>
            <a:ext cx="243459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9342" y="1655064"/>
            <a:ext cx="2105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Caixa padrão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79342" y="1947672"/>
            <a:ext cx="2105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Sistema escolhe P, M ou 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15100" y="1508760"/>
            <a:ext cx="243459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9692" y="1655064"/>
            <a:ext cx="2105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Etiqueta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9692" y="1947672"/>
            <a:ext cx="2105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Dimensão e peso já definidos.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15450" y="1508760"/>
            <a:ext cx="243459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0042" y="1655064"/>
            <a:ext cx="2105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Postagem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80042" y="1947672"/>
            <a:ext cx="2105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Produtor usa a caixa indicada.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371600" y="3429000"/>
            <a:ext cx="4114800" cy="400050"/>
          </a:xfrm>
          <a:prstGeom prst="roundRect">
            <a:avLst>
              <a:gd name="adj" fmla="val 9143"/>
            </a:avLst>
          </a:prstGeom>
          <a:solidFill>
            <a:srgbClr val="2F6B46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3538728"/>
            <a:ext cx="123444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23260" y="3538728"/>
            <a:ext cx="205740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Uso esperado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874770"/>
            <a:ext cx="4114800" cy="400050"/>
          </a:xfrm>
          <a:prstGeom prst="roundRect">
            <a:avLst>
              <a:gd name="adj" fmla="val 9143"/>
            </a:avLst>
          </a:prstGeom>
          <a:solidFill>
            <a:srgbClr val="FFF9F0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36192" y="3984498"/>
            <a:ext cx="123444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Caixa 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23260" y="3984498"/>
            <a:ext cx="205740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1 a 2 pacotes pequenos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71600" y="4320540"/>
            <a:ext cx="4114800" cy="400050"/>
          </a:xfrm>
          <a:prstGeom prst="roundRect">
            <a:avLst>
              <a:gd name="adj" fmla="val 9143"/>
            </a:avLst>
          </a:prstGeom>
          <a:solidFill>
            <a:srgbClr val="F7F1E8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4430268"/>
            <a:ext cx="123444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Caixa 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23260" y="4430268"/>
            <a:ext cx="205740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1 kg ou combinação média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0" y="4766310"/>
            <a:ext cx="4114800" cy="400050"/>
          </a:xfrm>
          <a:prstGeom prst="roundRect">
            <a:avLst>
              <a:gd name="adj" fmla="val 9143"/>
            </a:avLst>
          </a:prstGeom>
          <a:solidFill>
            <a:srgbClr val="FFF9F0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36192" y="4876038"/>
            <a:ext cx="123444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Caixa 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23260" y="4876038"/>
            <a:ext cx="2057400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kits ou compra maior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97880" y="3520440"/>
            <a:ext cx="4892040" cy="1280160"/>
          </a:xfrm>
          <a:prstGeom prst="roundRect">
            <a:avLst>
              <a:gd name="adj" fmla="val 4286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3657600"/>
            <a:ext cx="456285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O objetivo é evitar que cada produtor precise medir toda caixa manualmente. O sistema trabalha com modelos combinados previamente.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ROTINA REAL DA ROÇA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Agenda de postagem do produtor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EAF3EA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Princípio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O produtor escolhe dias fixos de envio para concentrar pedidos e reduzir deslocamento.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16986" y="3314700"/>
            <a:ext cx="25603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12764" y="3314700"/>
            <a:ext cx="25603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08542" y="3314700"/>
            <a:ext cx="25603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2743200"/>
            <a:ext cx="244830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89504"/>
            <a:ext cx="2119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Pedido aprovado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3182112"/>
            <a:ext cx="211912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Entra na fila do produtor.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18738" y="2743200"/>
            <a:ext cx="244830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3330" y="2889504"/>
            <a:ext cx="2119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Próximo dia de envio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83330" y="3182112"/>
            <a:ext cx="211912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Ex.: terça e sexta.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14516" y="2743200"/>
            <a:ext cx="244830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9108" y="2889504"/>
            <a:ext cx="2119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Entrega em Caratinga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79108" y="3182112"/>
            <a:ext cx="211912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Ou ponto combinado pela operação.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10294" y="2743200"/>
            <a:ext cx="244830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4886" y="2889504"/>
            <a:ext cx="2119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Postagem registrada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74886" y="3182112"/>
            <a:ext cx="211912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Webhook atualiza o pedido.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5840" y="498348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5120640"/>
            <a:ext cx="97292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No MVP, partimos do pressuposto de postagem em Caratinga. Patrocínio/São João podem funcionar como pontos de coleta informal se isso facilitar a operação local.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GUARDA-CORPOS DO MVP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O que o sistema deve fazer — e o que não deve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EAF3EA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5506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DEVE FAZER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947672"/>
            <a:ext cx="48371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Cotar frete por CEP de origem do produtor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Salvar a cotação escolhida no checkout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Gerar etiqueta pré-paga pela conta da plataforma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Mostrar instruções simples para o produtor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Usar webhook oficial para confirmar postagem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5087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1E6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65506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7A3A"/>
                </a:solidFill>
              </a:rPr>
              <a:t>NÃO DEVE FAZER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55664" y="1947672"/>
            <a:ext cx="48371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Liberar pagamento só porque o produtor clicou “postei”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Prometer coleta própria nacional no MVP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Mostrar dezenas de opções de frete ao cliente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Depender de centro de distribuição agora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Aceitar embalagens sem padrão mínimo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PARA TODO MUNDO ENTENDER O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Estados mínimos da entrega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63140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96512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29884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63256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96628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70078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Cotado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199339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Frete calculado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82012" y="155448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6604" y="170078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Etiqueta gerada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6604" y="199339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Documento pronto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15384" y="155448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170078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Aguardando postagem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9976" y="199339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Com produtor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48756" y="155448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3348" y="170078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Postado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3348" y="199339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Confirmado pela transportadora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82128" y="155448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70078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Em transporte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199339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Rastreamento ativo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15500" y="155448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0092" y="170078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Entregue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80092" y="199339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Pedido concluído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5840" y="4526280"/>
            <a:ext cx="10058400" cy="822960"/>
          </a:xfrm>
          <a:prstGeom prst="roundRect">
            <a:avLst>
              <a:gd name="adj" fmla="val 6667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4663440"/>
            <a:ext cx="97292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Status problemáticos também precisam existir: atrasado, não entregue, cancelado, etiqueta expirada e ajuste de frete.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VALIDAÇÃO RÁPIDA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Testes práticos antes do lançamento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8176" y="18196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CEP real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35000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Testar cotação com CEPs de Caratinga e produtores da região.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3520440" y="160020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EAF3EA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97096" y="18196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Caixa real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235000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Montar 2 ou 3 embalagens e pesar com café dentro.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FF1E6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86016" y="18196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Postagem real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235000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Levar pacote com etiqueta pré-paga ao ponto escolhido.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160020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7F1E8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74936" y="18196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Rastreio real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99448" y="235000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Validar atualização automática do status no sistema.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1005840" y="5074920"/>
            <a:ext cx="10058400" cy="548640"/>
          </a:xfrm>
          <a:prstGeom prst="roundRect">
            <a:avLst>
              <a:gd name="adj" fmla="val 10000"/>
            </a:avLst>
          </a:prstGeom>
          <a:solidFill>
            <a:srgbClr val="EAF3EA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5212080"/>
            <a:ext cx="9729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A decisão técnica é Melhor Envio. O teste local serve para descobrir quais pontos aceitam quais serviços, não para reabrir toda a estratégia.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FONTES TÉCNICAS E PREMISSAS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Base técnica usada para esta apresentação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1. Documentação Melhor Envio — cotação de fretes: origem, destino e produtos/volumes; uma cotação por par de CEPs.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2. Documentação Melhor Envio — fluxo completo: autenticação, cotação, compra, pagamento, geração/impressão de etiquetas e status via webhook.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3. Documentação Melhor Envio — webhooks: eventos order.created, order.released, order.generated, order.posted, order.delivered e assinatura X-ME-Signature.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4. Premissa interna do MVP: produtores selecionados, postagem em Caratinga ou ponto combinado, sem coleta própria nacional.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Fontes consultadas em 05/08/2026 • ajustar após testes em sandbox/produção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Grão e Origem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Grão e Origem — Frete e Logística</dc:title>
  <dc:subject>Grão e Origem — Frete e Logística</dc:subject>
  <dc:creator>Grão e Origem</dc:creator>
  <cp:lastModifiedBy>Grão e Origem</cp:lastModifiedBy>
  <cp:revision>1</cp:revision>
  <dcterms:created xsi:type="dcterms:W3CDTF">2026-08-05T17:54:09Z</dcterms:created>
  <dcterms:modified xsi:type="dcterms:W3CDTF">2026-08-05T17:54:09Z</dcterms:modified>
</cp:coreProperties>
</file>