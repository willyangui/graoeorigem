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B2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57A3A"/>
          </a:solidFill>
          <a:ln w="12700">
            <a:solidFill>
              <a:srgbClr val="C57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9F0"/>
                </a:solidFill>
              </a:rPr>
              <a:t>Grão e Origem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89611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Pagamentos e repasses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58368" y="2788920"/>
            <a:ext cx="83210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0E5D5"/>
                </a:solidFill>
              </a:rPr>
              <a:t>Modelo visual para cobrança, controle e pagamento ao produtor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58368" y="3886200"/>
            <a:ext cx="4297680" cy="548640"/>
          </a:xfrm>
          <a:prstGeom prst="roundRect">
            <a:avLst>
              <a:gd name="adj" fmla="val 16667"/>
            </a:avLst>
          </a:prstGeom>
          <a:solidFill>
            <a:srgbClr val="FFF9F0">
              <a:alpha val="92000"/>
            </a:srgbClr>
          </a:solidFill>
          <a:ln w="12700">
            <a:solidFill>
              <a:srgbClr val="FFF9F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04164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2E1D"/>
                </a:solidFill>
              </a:rPr>
              <a:t>MVP • Asaas sem split • repasse por Pix após postagem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601200" y="822960"/>
            <a:ext cx="1463040" cy="2194560"/>
          </a:xfrm>
          <a:prstGeom prst="arc">
            <a:avLst/>
          </a:prstGeom>
          <a:noFill/>
          <a:ln w="38100">
            <a:solidFill>
              <a:srgbClr val="F0E5D5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24160" y="3108960"/>
            <a:ext cx="1097280" cy="1920240"/>
          </a:xfrm>
          <a:prstGeom prst="arc">
            <a:avLst/>
          </a:prstGeom>
          <a:noFill/>
          <a:ln w="38100">
            <a:solidFill>
              <a:srgbClr val="F0E5D5">
                <a:alpha val="3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46"/>
          </a:solidFill>
          <a:ln w="12700">
            <a:solidFill>
              <a:srgbClr val="2F6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7A3A"/>
                </a:solidFill>
              </a:rPr>
              <a:t>RESUMO EXECUTIVO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</a:rPr>
              <a:t>Decisão de pagamento para o MVP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EAF3EA"/>
          </a:solidFill>
          <a:ln w="12700">
            <a:solidFill>
              <a:srgbClr val="D5C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7A3A"/>
                </a:solidFill>
              </a:rPr>
              <a:t>Escolha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0116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D1D1F"/>
                </a:solidFill>
              </a:rPr>
              <a:t>Usar Asaas como API de cobrança da conta Grão e Origem.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17920" y="150876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FFF1E6"/>
          </a:solidFill>
          <a:ln w="12700">
            <a:solidFill>
              <a:srgbClr val="D5C8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6916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7A3A"/>
                </a:solidFill>
              </a:rPr>
              <a:t>Sem complexidade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46520" y="20116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D1D1F"/>
                </a:solidFill>
              </a:rPr>
              <a:t>Não usar split, escrow ou subcontas de produtores no primeiro momento.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" y="3886200"/>
            <a:ext cx="10149840" cy="960120"/>
          </a:xfrm>
          <a:prstGeom prst="roundRect">
            <a:avLst>
              <a:gd name="adj" fmla="val 5714"/>
            </a:avLst>
          </a:prstGeom>
          <a:solidFill>
            <a:srgbClr val="F7F1E8"/>
          </a:solidFill>
          <a:ln w="12700">
            <a:solidFill>
              <a:srgbClr val="E4D6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4023360"/>
            <a:ext cx="982065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</a:rPr>
              <a:t>A Grão e Origem recebe o pedido, separa internamente os valores e repassa ao produtor por Pix depois da postagem confirmada.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Grão e Origem • Documento visual de decisão financeira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46"/>
          </a:solidFill>
          <a:ln w="12700">
            <a:solidFill>
              <a:srgbClr val="2F6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7A3A"/>
                </a:solidFill>
              </a:rPr>
              <a:t>DIAGRAMA PRINCIPAL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</a:rPr>
              <a:t>Fluxo financeiro em ordem cronológica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63140" y="2125980"/>
            <a:ext cx="73152" cy="0"/>
          </a:xfrm>
          <a:prstGeom prst="line">
            <a:avLst/>
          </a:prstGeom>
          <a:noFill/>
          <a:ln w="25400">
            <a:solidFill>
              <a:srgbClr val="79A86B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096512" y="2125980"/>
            <a:ext cx="73152" cy="0"/>
          </a:xfrm>
          <a:prstGeom prst="line">
            <a:avLst/>
          </a:prstGeom>
          <a:noFill/>
          <a:ln w="25400">
            <a:solidFill>
              <a:srgbClr val="79A86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929884" y="2125980"/>
            <a:ext cx="73152" cy="0"/>
          </a:xfrm>
          <a:prstGeom prst="line">
            <a:avLst/>
          </a:prstGeom>
          <a:noFill/>
          <a:ln w="25400">
            <a:solidFill>
              <a:srgbClr val="79A86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763256" y="2125980"/>
            <a:ext cx="73152" cy="0"/>
          </a:xfrm>
          <a:prstGeom prst="line">
            <a:avLst/>
          </a:prstGeom>
          <a:noFill/>
          <a:ln w="25400">
            <a:solidFill>
              <a:srgbClr val="79A86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596628" y="2125980"/>
            <a:ext cx="73152" cy="0"/>
          </a:xfrm>
          <a:prstGeom prst="line">
            <a:avLst/>
          </a:prstGeom>
          <a:noFill/>
          <a:ln w="25400">
            <a:solidFill>
              <a:srgbClr val="79A8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1508760"/>
            <a:ext cx="16687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C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655064"/>
            <a:ext cx="1339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6"/>
                </a:solidFill>
              </a:rPr>
              <a:t>1. Pedido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" y="1947672"/>
            <a:ext cx="13395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Cliente fecha a compra.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382012" y="1508760"/>
            <a:ext cx="16687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C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6604" y="1655064"/>
            <a:ext cx="1339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6"/>
                </a:solidFill>
              </a:rPr>
              <a:t>2. Cobrança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46604" y="1947672"/>
            <a:ext cx="13395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Asaas gera Pix ou cartão.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15384" y="1508760"/>
            <a:ext cx="16687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C7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9976" y="1655064"/>
            <a:ext cx="1339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6"/>
                </a:solidFill>
              </a:rPr>
              <a:t>3. Confirmação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79976" y="1947672"/>
            <a:ext cx="13395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Sistema libera preparo.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48756" y="1508760"/>
            <a:ext cx="16687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C7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3348" y="1655064"/>
            <a:ext cx="1339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6"/>
                </a:solidFill>
              </a:rPr>
              <a:t>4. Frete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3348" y="1947672"/>
            <a:ext cx="13395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Plataforma paga etiqueta.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882128" y="1508760"/>
            <a:ext cx="16687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C7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0" y="1655064"/>
            <a:ext cx="1339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6"/>
                </a:solidFill>
              </a:rPr>
              <a:t>5. Postagem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46720" y="1947672"/>
            <a:ext cx="13395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Melhor Envio confirma.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715500" y="1508760"/>
            <a:ext cx="16687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C7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80092" y="1655064"/>
            <a:ext cx="1339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6"/>
                </a:solidFill>
              </a:rPr>
              <a:t>6. Pix produtor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880092" y="1947672"/>
            <a:ext cx="13395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Grão e Origem repassa.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60120" y="4434840"/>
            <a:ext cx="10149840" cy="868680"/>
          </a:xfrm>
          <a:prstGeom prst="roundRect">
            <a:avLst>
              <a:gd name="adj" fmla="val 6316"/>
            </a:avLst>
          </a:prstGeom>
          <a:solidFill>
            <a:srgbClr val="EAF3EA"/>
          </a:solidFill>
          <a:ln w="12700">
            <a:solidFill>
              <a:srgbClr val="E4D6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24712" y="4572000"/>
            <a:ext cx="982065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</a:rPr>
              <a:t>O produtor não precisa abrir conta em banco específico. Ele recebe na chave Pix cadastrada, depois da validação operacional.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Grão e Origem • Documento visual de decisão financeira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46"/>
          </a:solidFill>
          <a:ln w="12700">
            <a:solidFill>
              <a:srgbClr val="2F6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7A3A"/>
                </a:solidFill>
              </a:rPr>
              <a:t>MODELO SIMPLES DE CONCILIAÇÃO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</a:rPr>
              <a:t>O dinheiro por dentro do pedido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46304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F7F1E8"/>
          </a:solidFill>
          <a:ln w="12700">
            <a:solidFill>
              <a:srgbClr val="D5C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459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7A3A"/>
                </a:solidFill>
              </a:rPr>
              <a:t>Cliente paga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965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D1D1F"/>
                </a:solidFill>
              </a:rPr>
              <a:t>Produto + frete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83280" y="2039112"/>
            <a:ext cx="914400" cy="0"/>
          </a:xfrm>
          <a:prstGeom prst="line">
            <a:avLst/>
          </a:prstGeom>
          <a:noFill/>
          <a:ln w="25400">
            <a:solidFill>
              <a:srgbClr val="79A86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434840" y="146304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EAF3EA"/>
          </a:solidFill>
          <a:ln w="12700">
            <a:solidFill>
              <a:srgbClr val="D5C8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64592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7A3A"/>
                </a:solidFill>
              </a:rPr>
              <a:t>Conta Grão e Origem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19659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D1D1F"/>
                </a:solidFill>
              </a:rPr>
              <a:t>Recebe tudo e separa no sistema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818120" y="2039112"/>
            <a:ext cx="822960" cy="0"/>
          </a:xfrm>
          <a:prstGeom prst="line">
            <a:avLst/>
          </a:prstGeom>
          <a:noFill/>
          <a:ln w="25400">
            <a:solidFill>
              <a:srgbClr val="79A8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778240" y="146304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1E6"/>
          </a:solidFill>
          <a:ln w="12700">
            <a:solidFill>
              <a:srgbClr val="D5C8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06840" y="16459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7A3A"/>
                </a:solidFill>
              </a:rPr>
              <a:t>Saídas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006840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D1D1F"/>
                </a:solidFill>
              </a:rPr>
              <a:t>Etiqueta + Pix ao produtor + comissão retida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280160" y="3337560"/>
            <a:ext cx="9509760" cy="347472"/>
          </a:xfrm>
          <a:prstGeom prst="roundRect">
            <a:avLst>
              <a:gd name="adj" fmla="val 10526"/>
            </a:avLst>
          </a:prstGeom>
          <a:solidFill>
            <a:srgbClr val="2F6B46"/>
          </a:solidFill>
          <a:ln w="12700">
            <a:solidFill>
              <a:srgbClr val="E0D2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44752" y="3447288"/>
            <a:ext cx="2852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Parte do dinheiro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59552" y="3447288"/>
            <a:ext cx="4754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Tratamento interno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280160" y="3730752"/>
            <a:ext cx="9509760" cy="347472"/>
          </a:xfrm>
          <a:prstGeom prst="roundRect">
            <a:avLst>
              <a:gd name="adj" fmla="val 10526"/>
            </a:avLst>
          </a:prstGeom>
          <a:solidFill>
            <a:srgbClr val="FFF9F0"/>
          </a:solidFill>
          <a:ln w="12700">
            <a:solidFill>
              <a:srgbClr val="E0D2C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44752" y="3840480"/>
            <a:ext cx="2852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</a:rPr>
              <a:t>Valor do café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559552" y="3840480"/>
            <a:ext cx="4754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</a:rPr>
              <a:t>Pertence ao produtor, menos comissão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280160" y="4123944"/>
            <a:ext cx="9509760" cy="347472"/>
          </a:xfrm>
          <a:prstGeom prst="roundRect">
            <a:avLst>
              <a:gd name="adj" fmla="val 10526"/>
            </a:avLst>
          </a:prstGeom>
          <a:solidFill>
            <a:srgbClr val="F7F1E8"/>
          </a:solidFill>
          <a:ln w="12700">
            <a:solidFill>
              <a:srgbClr val="E0D2C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4752" y="4233672"/>
            <a:ext cx="2852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</a:rPr>
              <a:t>Frete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559552" y="4233672"/>
            <a:ext cx="4754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</a:rPr>
              <a:t>Reserva logística para pagar etiqueta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280160" y="4517136"/>
            <a:ext cx="9509760" cy="347472"/>
          </a:xfrm>
          <a:prstGeom prst="roundRect">
            <a:avLst>
              <a:gd name="adj" fmla="val 10526"/>
            </a:avLst>
          </a:prstGeom>
          <a:solidFill>
            <a:srgbClr val="FFF9F0"/>
          </a:solidFill>
          <a:ln w="12700">
            <a:solidFill>
              <a:srgbClr val="E0D2C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44752" y="4626864"/>
            <a:ext cx="2852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</a:rPr>
              <a:t>Comissão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559552" y="4626864"/>
            <a:ext cx="4754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</a:rPr>
              <a:t>Receita da Grão e Origem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280160" y="4910328"/>
            <a:ext cx="9509760" cy="347472"/>
          </a:xfrm>
          <a:prstGeom prst="roundRect">
            <a:avLst>
              <a:gd name="adj" fmla="val 10526"/>
            </a:avLst>
          </a:prstGeom>
          <a:solidFill>
            <a:srgbClr val="F7F1E8"/>
          </a:solidFill>
          <a:ln w="12700">
            <a:solidFill>
              <a:srgbClr val="E0D2C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44752" y="5020056"/>
            <a:ext cx="2852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</a:rPr>
              <a:t>Taxas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559552" y="5020056"/>
            <a:ext cx="4754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</a:rPr>
              <a:t>Custo financeiro do pedido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Grão e Origem • Documento visual de decisão financeira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46"/>
          </a:solidFill>
          <a:ln w="12700">
            <a:solidFill>
              <a:srgbClr val="2F6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7A3A"/>
                </a:solidFill>
              </a:rPr>
              <a:t>PAGAMENTO NÃO É TUDO IGUAL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</a:rPr>
              <a:t>Quando o pedido pode andar?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4983480" cy="1417320"/>
          </a:xfrm>
          <a:prstGeom prst="roundRect">
            <a:avLst>
              <a:gd name="adj" fmla="val 5161"/>
            </a:avLst>
          </a:prstGeom>
          <a:solidFill>
            <a:srgbClr val="EAF3EA"/>
          </a:solidFill>
          <a:ln w="12700">
            <a:solidFill>
              <a:srgbClr val="D5C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691640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7A3A"/>
                </a:solidFill>
              </a:rPr>
              <a:t>Pix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201168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D1D1F"/>
                </a:solidFill>
              </a:rPr>
              <a:t>Recebimento tende a liberar rápido: pedido pode ir para preparo após PAYMENT_RECEIVED.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4983480" cy="1417320"/>
          </a:xfrm>
          <a:prstGeom prst="roundRect">
            <a:avLst>
              <a:gd name="adj" fmla="val 5161"/>
            </a:avLst>
          </a:prstGeom>
          <a:solidFill>
            <a:srgbClr val="FFF1E6"/>
          </a:solidFill>
          <a:ln w="12700">
            <a:solidFill>
              <a:srgbClr val="D5C8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691640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7A3A"/>
                </a:solidFill>
              </a:rPr>
              <a:t>Cartão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37960" y="201168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D1D1F"/>
                </a:solidFill>
              </a:rPr>
              <a:t>Pode confirmar venda antes do saldo ficar disponível. Isso exige capital de giro ou política de repasse.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657600"/>
            <a:ext cx="9966960" cy="731520"/>
          </a:xfrm>
          <a:prstGeom prst="roundRect">
            <a:avLst>
              <a:gd name="adj" fmla="val 7500"/>
            </a:avLst>
          </a:prstGeom>
          <a:solidFill>
            <a:srgbClr val="F7F1E8"/>
          </a:solidFill>
          <a:ln w="12700">
            <a:solidFill>
              <a:srgbClr val="E4D6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1872" y="3794760"/>
            <a:ext cx="963777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</a:rPr>
              <a:t>Regra do MVP: o sistema deve distinguir “pedido aprovado para preparo” de “dinheiro disponível para repasse”.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97280" y="4709160"/>
            <a:ext cx="9966960" cy="731520"/>
          </a:xfrm>
          <a:prstGeom prst="roundRect">
            <a:avLst>
              <a:gd name="adj" fmla="val 7500"/>
            </a:avLst>
          </a:prstGeom>
          <a:solidFill>
            <a:srgbClr val="EAF3EA"/>
          </a:solidFill>
          <a:ln w="12700">
            <a:solidFill>
              <a:srgbClr val="E4D6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61872" y="4846320"/>
            <a:ext cx="963777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</a:rPr>
              <a:t>Para evitar travar a operação, a Grão e Origem pode começar com Pix como principal e cartão com regra de capital de giro/antecipação.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Grão e Origem • Documento visual de decisão financeira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46"/>
          </a:solidFill>
          <a:ln w="12700">
            <a:solidFill>
              <a:srgbClr val="2F6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7A3A"/>
                </a:solidFill>
              </a:rPr>
              <a:t>SEGURANÇA SEM ENGESSAR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</a:rPr>
              <a:t>Regra de liberação do produtor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23083" y="2217420"/>
            <a:ext cx="128016" cy="0"/>
          </a:xfrm>
          <a:prstGeom prst="line">
            <a:avLst/>
          </a:prstGeom>
          <a:noFill/>
          <a:ln w="25400">
            <a:solidFill>
              <a:srgbClr val="79A86B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934102" y="2217420"/>
            <a:ext cx="128016" cy="0"/>
          </a:xfrm>
          <a:prstGeom prst="line">
            <a:avLst/>
          </a:prstGeom>
          <a:noFill/>
          <a:ln w="25400">
            <a:solidFill>
              <a:srgbClr val="79A86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145122" y="2217420"/>
            <a:ext cx="128016" cy="0"/>
          </a:xfrm>
          <a:prstGeom prst="line">
            <a:avLst/>
          </a:prstGeom>
          <a:noFill/>
          <a:ln w="25400">
            <a:solidFill>
              <a:srgbClr val="79A86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356141" y="2217420"/>
            <a:ext cx="128016" cy="0"/>
          </a:xfrm>
          <a:prstGeom prst="line">
            <a:avLst/>
          </a:prstGeom>
          <a:noFill/>
          <a:ln w="25400">
            <a:solidFill>
              <a:srgbClr val="79A86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85800" y="1600200"/>
            <a:ext cx="1991563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C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746504"/>
            <a:ext cx="16623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6"/>
                </a:solidFill>
              </a:rPr>
              <a:t>Pedido pago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0392" y="2039112"/>
            <a:ext cx="16623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Cliente concluiu a compra.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896819" y="1600200"/>
            <a:ext cx="1991563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C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1411" y="1746504"/>
            <a:ext cx="16623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6"/>
                </a:solidFill>
              </a:rPr>
              <a:t>Pedido preparado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61411" y="2039112"/>
            <a:ext cx="16623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Produtor embala no padrão.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107838" y="1600200"/>
            <a:ext cx="1991563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C7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72430" y="1746504"/>
            <a:ext cx="16623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6"/>
                </a:solidFill>
              </a:rPr>
              <a:t>Postagem oficial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72430" y="2039112"/>
            <a:ext cx="16623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order.posted no Melhor Envio.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18858" y="1600200"/>
            <a:ext cx="1991563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C7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83450" y="1746504"/>
            <a:ext cx="16623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6"/>
                </a:solidFill>
              </a:rPr>
              <a:t>Conferência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83450" y="2039112"/>
            <a:ext cx="16623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Admin valida valor e nota.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529877" y="1600200"/>
            <a:ext cx="1991563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C7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4469" y="1746504"/>
            <a:ext cx="16623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6"/>
                </a:solidFill>
              </a:rPr>
              <a:t>Pix realizado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94469" y="2039112"/>
            <a:ext cx="16623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Produtor pago na conta cadastrada.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60120" y="4617720"/>
            <a:ext cx="10149840" cy="731520"/>
          </a:xfrm>
          <a:prstGeom prst="roundRect">
            <a:avLst>
              <a:gd name="adj" fmla="val 7500"/>
            </a:avLst>
          </a:prstGeom>
          <a:solidFill>
            <a:srgbClr val="FFF1E6"/>
          </a:solidFill>
          <a:ln w="12700">
            <a:solidFill>
              <a:srgbClr val="E4D6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24712" y="4754880"/>
            <a:ext cx="982065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</a:rPr>
              <a:t>O botão “já postei” não libera pagamento sozinho. Ele só avisa a plataforma para aguardar a confirmação oficial.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Grão e Origem • Documento visual de decisão financeira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46"/>
          </a:solidFill>
          <a:ln w="12700">
            <a:solidFill>
              <a:srgbClr val="2F6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7A3A"/>
                </a:solidFill>
              </a:rPr>
              <a:t>GUARDA-CORPOS DO MVP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</a:rPr>
              <a:t>O que o sistema deve fazer — e o que não deve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5166360" cy="4160520"/>
          </a:xfrm>
          <a:prstGeom prst="roundRect">
            <a:avLst>
              <a:gd name="adj" fmla="val 1758"/>
            </a:avLst>
          </a:prstGeom>
          <a:solidFill>
            <a:srgbClr val="EAF3EA"/>
          </a:solidFill>
          <a:ln w="12700">
            <a:solidFill>
              <a:srgbClr val="D6C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655064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6"/>
                </a:solidFill>
              </a:rPr>
              <a:t>DEVE FAZER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1947672"/>
            <a:ext cx="4837176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• Criar cobrança única em nome da Grão e Origem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• Registrar produto, frete, comissão e taxa separadamente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• Liberar preparo apenas após confirmação do pagamento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• Liberar repasse somente após postagem oficial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• Guardar comprovante do Pix ao produtor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91072" y="1508760"/>
            <a:ext cx="5166360" cy="4160520"/>
          </a:xfrm>
          <a:prstGeom prst="roundRect">
            <a:avLst>
              <a:gd name="adj" fmla="val 1758"/>
            </a:avLst>
          </a:prstGeom>
          <a:solidFill>
            <a:srgbClr val="FFF1E6"/>
          </a:solidFill>
          <a:ln w="12700">
            <a:solidFill>
              <a:srgbClr val="D6C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5664" y="1655064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7A3A"/>
                </a:solidFill>
              </a:rPr>
              <a:t>NÃO DEVE FAZER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55664" y="1947672"/>
            <a:ext cx="4837176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• Fazer split automático no MVP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• Obrigar produtor a abrir conta específica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• Repassar dinheiro antes da postagem oficial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• Misturar comissão com valor do produtor no relatório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• Ignorar chargeback, estorno ou cancelamento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Grão e Origem • Documento visual de decisão financeira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46"/>
          </a:solidFill>
          <a:ln w="12700">
            <a:solidFill>
              <a:srgbClr val="2F6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7A3A"/>
                </a:solidFill>
              </a:rPr>
              <a:t>PARA NÃO PERDER CONTROLE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</a:rPr>
              <a:t>Estados mínimos do pagamento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63140" y="2171700"/>
            <a:ext cx="73152" cy="0"/>
          </a:xfrm>
          <a:prstGeom prst="line">
            <a:avLst/>
          </a:prstGeom>
          <a:noFill/>
          <a:ln w="25400">
            <a:solidFill>
              <a:srgbClr val="79A86B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096512" y="2171700"/>
            <a:ext cx="73152" cy="0"/>
          </a:xfrm>
          <a:prstGeom prst="line">
            <a:avLst/>
          </a:prstGeom>
          <a:noFill/>
          <a:ln w="25400">
            <a:solidFill>
              <a:srgbClr val="79A86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929884" y="2171700"/>
            <a:ext cx="73152" cy="0"/>
          </a:xfrm>
          <a:prstGeom prst="line">
            <a:avLst/>
          </a:prstGeom>
          <a:noFill/>
          <a:ln w="25400">
            <a:solidFill>
              <a:srgbClr val="79A86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763256" y="2171700"/>
            <a:ext cx="73152" cy="0"/>
          </a:xfrm>
          <a:prstGeom prst="line">
            <a:avLst/>
          </a:prstGeom>
          <a:noFill/>
          <a:ln w="25400">
            <a:solidFill>
              <a:srgbClr val="79A86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596628" y="2171700"/>
            <a:ext cx="73152" cy="0"/>
          </a:xfrm>
          <a:prstGeom prst="line">
            <a:avLst/>
          </a:prstGeom>
          <a:noFill/>
          <a:ln w="25400">
            <a:solidFill>
              <a:srgbClr val="79A8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1600200"/>
            <a:ext cx="16687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C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746504"/>
            <a:ext cx="1339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6"/>
                </a:solidFill>
              </a:rPr>
              <a:t>Criado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" y="2039112"/>
            <a:ext cx="13395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Cobrança emitida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382012" y="1600200"/>
            <a:ext cx="16687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C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6604" y="1746504"/>
            <a:ext cx="1339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6"/>
                </a:solidFill>
              </a:rPr>
              <a:t>Confirmado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46604" y="2039112"/>
            <a:ext cx="13395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Aprovado para preparo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15384" y="1600200"/>
            <a:ext cx="16687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C7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9976" y="1746504"/>
            <a:ext cx="1339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6"/>
                </a:solidFill>
              </a:rPr>
              <a:t>Recebido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79976" y="2039112"/>
            <a:ext cx="13395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Saldo disponível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48756" y="1600200"/>
            <a:ext cx="16687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C7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3348" y="1746504"/>
            <a:ext cx="1339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6"/>
                </a:solidFill>
              </a:rPr>
              <a:t>Elegível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3348" y="2039112"/>
            <a:ext cx="13395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Postagem validada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882128" y="1600200"/>
            <a:ext cx="16687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C7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0" y="1746504"/>
            <a:ext cx="1339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6"/>
                </a:solidFill>
              </a:rPr>
              <a:t>Pago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46720" y="2039112"/>
            <a:ext cx="13395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Pix enviado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715500" y="1600200"/>
            <a:ext cx="16687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C7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80092" y="1746504"/>
            <a:ext cx="1339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46"/>
                </a:solidFill>
              </a:rPr>
              <a:t>Conciliado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880092" y="2039112"/>
            <a:ext cx="13395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1D1F"/>
                </a:solidFill>
              </a:rPr>
              <a:t>Comprovado no sistema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60120" y="4526280"/>
            <a:ext cx="10149840" cy="731520"/>
          </a:xfrm>
          <a:prstGeom prst="roundRect">
            <a:avLst>
              <a:gd name="adj" fmla="val 7500"/>
            </a:avLst>
          </a:prstGeom>
          <a:solidFill>
            <a:srgbClr val="F7F1E8"/>
          </a:solidFill>
          <a:ln w="12700">
            <a:solidFill>
              <a:srgbClr val="E4D6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24712" y="4663440"/>
            <a:ext cx="982065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</a:rPr>
              <a:t>Exceções obrigatórias: recusado, estornado, chargeback, cancelado, pagamento duplicado e divergência de valor.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Grão e Origem • Documento visual de decisão financeira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46"/>
          </a:solidFill>
          <a:ln w="12700">
            <a:solidFill>
              <a:srgbClr val="2F6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7A3A"/>
                </a:solidFill>
              </a:rPr>
              <a:t>CAMADA DE PAGAMENTO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</a:rPr>
              <a:t>Integração técnica sem travar o lançamento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2423160" cy="292608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E0D2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556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08176" y="177393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</a:rPr>
              <a:t>Checkout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2304288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D1D1F"/>
                </a:solidFill>
              </a:rPr>
              <a:t>Cria cobrança no Asaas e recebe eventos de pagamento.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3520440" y="1554480"/>
            <a:ext cx="2423160" cy="2926080"/>
          </a:xfrm>
          <a:prstGeom prst="roundRect">
            <a:avLst>
              <a:gd name="adj" fmla="val 3774"/>
            </a:avLst>
          </a:prstGeom>
          <a:solidFill>
            <a:srgbClr val="EAF3EA"/>
          </a:solidFill>
          <a:ln w="12700">
            <a:solidFill>
              <a:srgbClr val="E0D2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17556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B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197096" y="177393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</a:rPr>
              <a:t>Controle interno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21608" y="2304288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D1D1F"/>
                </a:solidFill>
              </a:rPr>
              <a:t>Separa valores, calcula comissão e registra obrigações.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6309360" y="1554480"/>
            <a:ext cx="2423160" cy="2926080"/>
          </a:xfrm>
          <a:prstGeom prst="roundRect">
            <a:avLst>
              <a:gd name="adj" fmla="val 3774"/>
            </a:avLst>
          </a:prstGeom>
          <a:solidFill>
            <a:srgbClr val="FFF1E6"/>
          </a:solidFill>
          <a:ln w="12700">
            <a:solidFill>
              <a:srgbClr val="E0D2C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7556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C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986016" y="177393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</a:rPr>
              <a:t>Repasse MVP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10528" y="2304288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D1D1F"/>
                </a:solidFill>
              </a:rPr>
              <a:t>Admin executa Pix manual e anexa comprovante.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9098280" y="1554480"/>
            <a:ext cx="2423160" cy="2926080"/>
          </a:xfrm>
          <a:prstGeom prst="roundRect">
            <a:avLst>
              <a:gd name="adj" fmla="val 3774"/>
            </a:avLst>
          </a:prstGeom>
          <a:solidFill>
            <a:srgbClr val="F7F1E8"/>
          </a:solidFill>
          <a:ln w="12700">
            <a:solidFill>
              <a:srgbClr val="E0D2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17556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D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774936" y="177393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</a:rPr>
              <a:t>Repasse futuro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299448" y="2304288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D1D1F"/>
                </a:solidFill>
              </a:rPr>
              <a:t>Sistema chama API de transferência para Pix externo.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960120" y="4983480"/>
            <a:ext cx="10149840" cy="594360"/>
          </a:xfrm>
          <a:prstGeom prst="roundRect">
            <a:avLst>
              <a:gd name="adj" fmla="val 9231"/>
            </a:avLst>
          </a:prstGeom>
          <a:solidFill>
            <a:srgbClr val="EAF3EA"/>
          </a:solidFill>
          <a:ln w="12700">
            <a:solidFill>
              <a:srgbClr val="E4D6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24712" y="5120640"/>
            <a:ext cx="982065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</a:rPr>
              <a:t>A arquitetura deve permitir trocar o provedor financeiro no futuro sem reescrever toda a loja.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Grão e Origem • Documento visual de decisão financeira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46"/>
          </a:solidFill>
          <a:ln w="12700">
            <a:solidFill>
              <a:srgbClr val="2F6B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7A3A"/>
                </a:solidFill>
              </a:rPr>
              <a:t>FONTES TÉCNICAS E PREMISSAS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</a:rPr>
              <a:t>Base técnica usada para esta apresentação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515600" cy="4114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</a:rPr>
              <a:t>1. Documentação Asaas — criação de cobranças: endpoint /v3/payments para Pix, cartão, boleto ou forma indefinida.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</a:rPr>
              <a:t>2. Documentação Asaas — webhooks de cobranças: PAYMENT_CONFIRMED indica pagamento efetuado sem saldo disponível; PAYMENT_RECEIVED indica valor disponível.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</a:rPr>
              <a:t>3. Documentação Asaas — fluxo de cartão: cartão de crédito pode chegar a PAYMENT_RECEIVED 32 dias após PAYMENT_CONFIRMED.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</a:rPr>
              <a:t>4. Documentação Asaas — transferências: endpoint /v3/transfers para enviar valores a conta externa ou chave Pix.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</a:rPr>
              <a:t>5. Premissa interna do MVP: sem split, sem escrow, sem subcontas; repasse manual até a operação justificar automação.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</a:rPr>
              <a:t>Fontes consultadas em 05/08/2026 • ajustar após testes em sandbox/produção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Grão e Origem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Grão e Origem — Pagamentos e Repasses</dc:title>
  <dc:subject>Grão e Origem — Pagamentos e Repasses</dc:subject>
  <dc:creator>Grão e Origem</dc:creator>
  <cp:lastModifiedBy>Grão e Origem</cp:lastModifiedBy>
  <cp:revision>1</cp:revision>
  <dcterms:created xsi:type="dcterms:W3CDTF">2026-08-05T17:54:09Z</dcterms:created>
  <dcterms:modified xsi:type="dcterms:W3CDTF">2026-08-05T17:54:09Z</dcterms:modified>
</cp:coreProperties>
</file>